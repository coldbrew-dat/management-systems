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ileron" charset="1" panose="00000500000000000000"/>
      <p:regular r:id="rId18"/>
    </p:embeddedFont>
    <p:embeddedFont>
      <p:font typeface="DM Sans Bold" charset="1" panose="00000000000000000000"/>
      <p:regular r:id="rId19"/>
    </p:embeddedFont>
    <p:embeddedFont>
      <p:font typeface="DM Sans" charset="1" panose="00000000000000000000"/>
      <p:regular r:id="rId20"/>
    </p:embeddedFont>
    <p:embeddedFont>
      <p:font typeface="Poppins" charset="1" panose="00000500000000000000"/>
      <p:regular r:id="rId21"/>
    </p:embeddedFont>
    <p:embeddedFont>
      <p:font typeface="Poppins Light" charset="1" panose="00000400000000000000"/>
      <p:regular r:id="rId25"/>
    </p:embeddedFont>
    <p:embeddedFont>
      <p:font typeface="Canva Sans Bold" charset="1" panose="020B0803030501040103"/>
      <p:regular r:id="rId26"/>
    </p:embeddedFont>
    <p:embeddedFont>
      <p:font typeface="Be Vietnam" charset="1" panose="00000500000000000000"/>
      <p:regular r:id="rId27"/>
    </p:embeddedFont>
    <p:embeddedFont>
      <p:font typeface="Canva Sans" charset="1" panose="020B0503030501040103"/>
      <p:regular r:id="rId28"/>
    </p:embeddedFont>
    <p:embeddedFont>
      <p:font typeface="Aileron Bold" charset="1" panose="000008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manual invoice generation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39487" y="0"/>
            <a:ext cx="10287260" cy="10298430"/>
          </a:xfrm>
          <a:custGeom>
            <a:avLst/>
            <a:gdLst/>
            <a:ahLst/>
            <a:cxnLst/>
            <a:rect r="r" b="b" t="t" l="l"/>
            <a:pathLst>
              <a:path h="10298430" w="10287260">
                <a:moveTo>
                  <a:pt x="0" y="0"/>
                </a:moveTo>
                <a:lnTo>
                  <a:pt x="10287260" y="0"/>
                </a:lnTo>
                <a:lnTo>
                  <a:pt x="10287260" y="10298430"/>
                </a:lnTo>
                <a:lnTo>
                  <a:pt x="0" y="10298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964" y="149964"/>
            <a:ext cx="1757473" cy="1757473"/>
          </a:xfrm>
          <a:custGeom>
            <a:avLst/>
            <a:gdLst/>
            <a:ahLst/>
            <a:cxnLst/>
            <a:rect r="r" b="b" t="t" l="l"/>
            <a:pathLst>
              <a:path h="1757473" w="1757473">
                <a:moveTo>
                  <a:pt x="0" y="0"/>
                </a:moveTo>
                <a:lnTo>
                  <a:pt x="1757472" y="0"/>
                </a:lnTo>
                <a:lnTo>
                  <a:pt x="1757472" y="1757472"/>
                </a:lnTo>
                <a:lnTo>
                  <a:pt x="0" y="17574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89638" y="530010"/>
            <a:ext cx="13899699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70100E"/>
                </a:solidFill>
                <a:latin typeface="Aileron"/>
                <a:ea typeface="Aileron"/>
                <a:cs typeface="Aileron"/>
                <a:sym typeface="Aileron"/>
              </a:rPr>
              <a:t>HR MANAGEMENT SYSTEM DATABASE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116545"/>
            <a:ext cx="11532097" cy="279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A31212"/>
                </a:solidFill>
                <a:latin typeface="DM Sans Bold"/>
                <a:ea typeface="DM Sans Bold"/>
                <a:cs typeface="DM Sans Bold"/>
                <a:sym typeface="DM Sans Bold"/>
              </a:rPr>
              <a:t>SEMESTER PROJECT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31212"/>
                </a:solidFill>
                <a:latin typeface="DM Sans Bold"/>
                <a:ea typeface="DM Sans Bold"/>
                <a:cs typeface="DM Sans Bold"/>
                <a:sym typeface="DM Sans Bold"/>
              </a:rPr>
              <a:t>MEMBERS:                                                       ROLL NO: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A31212"/>
                </a:solidFill>
                <a:latin typeface="DM Sans"/>
                <a:ea typeface="DM Sans"/>
                <a:cs typeface="DM Sans"/>
                <a:sym typeface="DM Sans"/>
              </a:rPr>
              <a:t>RUMAISA ALI                                                  (24K-5518)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A31212"/>
                </a:solidFill>
                <a:latin typeface="DM Sans"/>
                <a:ea typeface="DM Sans"/>
                <a:cs typeface="DM Sans"/>
                <a:sym typeface="DM Sans"/>
              </a:rPr>
              <a:t>HAADIYA FARHAN                                         (24K-5560)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A31212"/>
                </a:solidFill>
                <a:latin typeface="DM Sans"/>
                <a:ea typeface="DM Sans"/>
                <a:cs typeface="DM Sans"/>
                <a:sym typeface="DM Sans"/>
              </a:rPr>
              <a:t>SARAH RANTA                                               (24K-5639)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07809" y="8846820"/>
            <a:ext cx="225149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29 APRIL,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121490"/>
            <a:ext cx="11532097" cy="223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A31212"/>
                </a:solidFill>
                <a:latin typeface="DM Sans Bold"/>
                <a:ea typeface="DM Sans Bold"/>
                <a:cs typeface="DM Sans Bold"/>
                <a:sym typeface="DM Sans Bold"/>
              </a:rPr>
              <a:t>LECTURER: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A31212"/>
                </a:solidFill>
                <a:latin typeface="DM Sans"/>
                <a:ea typeface="DM Sans"/>
                <a:cs typeface="DM Sans"/>
                <a:sym typeface="DM Sans"/>
              </a:rPr>
              <a:t>MS. MAGDALENE GLORIA MIRANDA </a:t>
            </a:r>
          </a:p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A31212"/>
                </a:solidFill>
                <a:latin typeface="DM Sans Bold"/>
                <a:ea typeface="DM Sans Bold"/>
                <a:cs typeface="DM Sans Bold"/>
                <a:sym typeface="DM Sans Bold"/>
              </a:rPr>
              <a:t>INSTRUCTOR: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A31212"/>
                </a:solidFill>
                <a:latin typeface="DM Sans"/>
                <a:ea typeface="DM Sans"/>
                <a:cs typeface="DM Sans"/>
                <a:sym typeface="DM Sans"/>
              </a:rPr>
              <a:t>  SIR IRFAN ALI 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66910" y="-974687"/>
            <a:ext cx="12236373" cy="12236373"/>
          </a:xfrm>
          <a:custGeom>
            <a:avLst/>
            <a:gdLst/>
            <a:ahLst/>
            <a:cxnLst/>
            <a:rect r="r" b="b" t="t" l="l"/>
            <a:pathLst>
              <a:path h="12236373" w="12236373">
                <a:moveTo>
                  <a:pt x="0" y="0"/>
                </a:moveTo>
                <a:lnTo>
                  <a:pt x="12236373" y="0"/>
                </a:lnTo>
                <a:lnTo>
                  <a:pt x="12236373" y="12236374"/>
                </a:lnTo>
                <a:lnTo>
                  <a:pt x="0" y="12236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5837" y="-267176"/>
            <a:ext cx="8001000" cy="5410676"/>
          </a:xfrm>
          <a:custGeom>
            <a:avLst/>
            <a:gdLst/>
            <a:ahLst/>
            <a:cxnLst/>
            <a:rect r="r" b="b" t="t" l="l"/>
            <a:pathLst>
              <a:path h="5410676" w="8001000">
                <a:moveTo>
                  <a:pt x="0" y="0"/>
                </a:moveTo>
                <a:lnTo>
                  <a:pt x="8001000" y="0"/>
                </a:lnTo>
                <a:lnTo>
                  <a:pt x="8001000" y="5410676"/>
                </a:lnTo>
                <a:lnTo>
                  <a:pt x="0" y="54106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569187" y="1095375"/>
            <a:ext cx="6718813" cy="2798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4"/>
              </a:lnSpc>
            </a:pPr>
            <a:r>
              <a:rPr lang="en-US" sz="7064">
                <a:solidFill>
                  <a:srgbClr val="851B1B"/>
                </a:solidFill>
                <a:latin typeface="Poppins"/>
                <a:ea typeface="Poppins"/>
                <a:cs typeface="Poppins"/>
                <a:sym typeface="Poppins"/>
              </a:rPr>
              <a:t>HR MANAGEMENT SYSTEM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31413" y="5702074"/>
            <a:ext cx="11727892" cy="4265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094" indent="-291047" lvl="1">
              <a:lnSpc>
                <a:spcPts val="3774"/>
              </a:lnSpc>
              <a:buFont typeface="Arial"/>
              <a:buChar char="•"/>
            </a:pPr>
            <a:r>
              <a:rPr lang="en-US" sz="2696">
                <a:solidFill>
                  <a:srgbClr val="A31212"/>
                </a:solidFill>
                <a:latin typeface="DM Sans"/>
                <a:ea typeface="DM Sans"/>
                <a:cs typeface="DM Sans"/>
                <a:sym typeface="DM Sans"/>
              </a:rPr>
              <a:t>DESIGNED TO ALLOW EASY SEARCHING, UPDATING, RETRIEVING AND REPORTING OF EMPLOYEE INFORMATION. </a:t>
            </a:r>
          </a:p>
          <a:p>
            <a:pPr algn="l" marL="582094" indent="-291047" lvl="1">
              <a:lnSpc>
                <a:spcPts val="3774"/>
              </a:lnSpc>
              <a:buFont typeface="Arial"/>
              <a:buChar char="•"/>
            </a:pPr>
            <a:r>
              <a:rPr lang="en-US" sz="2696">
                <a:solidFill>
                  <a:srgbClr val="A31212"/>
                </a:solidFill>
                <a:latin typeface="DM Sans"/>
                <a:ea typeface="DM Sans"/>
                <a:cs typeface="DM Sans"/>
                <a:sym typeface="DM Sans"/>
              </a:rPr>
              <a:t>PROVIDES ANALYTICAL INSIGHTS SUCH AS SALARY DISTRIBUTION, ATTENDANCE-BASED EVALUATION, AND DEPARTMENT-WISE FINANCIAL IMPACT.</a:t>
            </a:r>
          </a:p>
          <a:p>
            <a:pPr algn="l" marL="582094" indent="-291047" lvl="1">
              <a:lnSpc>
                <a:spcPts val="3774"/>
              </a:lnSpc>
              <a:buFont typeface="Arial"/>
              <a:buChar char="•"/>
            </a:pPr>
            <a:r>
              <a:rPr lang="en-US" sz="2696">
                <a:solidFill>
                  <a:srgbClr val="A31212"/>
                </a:solidFill>
                <a:latin typeface="DM Sans"/>
                <a:ea typeface="DM Sans"/>
                <a:cs typeface="DM Sans"/>
                <a:sym typeface="DM Sans"/>
              </a:rPr>
              <a:t>AN AID TO HELP HR MANAGERS AND RESPECTIVE AUTHORITIES TO ORGANIZE INFORMATION ABOUT EMPLOYEES PERSONAL DETAILS, INTERVIEWS AND PAYROLL INFORMATION TO SUPPORT WORKFORCE MANAGEMENT.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39026" y="-201801"/>
            <a:ext cx="10690603" cy="10690603"/>
          </a:xfrm>
          <a:custGeom>
            <a:avLst/>
            <a:gdLst/>
            <a:ahLst/>
            <a:cxnLst/>
            <a:rect r="r" b="b" t="t" l="l"/>
            <a:pathLst>
              <a:path h="10690603" w="10690603">
                <a:moveTo>
                  <a:pt x="0" y="0"/>
                </a:moveTo>
                <a:lnTo>
                  <a:pt x="10690603" y="0"/>
                </a:lnTo>
                <a:lnTo>
                  <a:pt x="10690603" y="10690602"/>
                </a:lnTo>
                <a:lnTo>
                  <a:pt x="0" y="10690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44862" y="1260919"/>
            <a:ext cx="8014438" cy="5642827"/>
          </a:xfrm>
          <a:custGeom>
            <a:avLst/>
            <a:gdLst/>
            <a:ahLst/>
            <a:cxnLst/>
            <a:rect r="r" b="b" t="t" l="l"/>
            <a:pathLst>
              <a:path h="5642827" w="8014438">
                <a:moveTo>
                  <a:pt x="0" y="0"/>
                </a:moveTo>
                <a:lnTo>
                  <a:pt x="8014438" y="0"/>
                </a:lnTo>
                <a:lnTo>
                  <a:pt x="8014438" y="5642827"/>
                </a:lnTo>
                <a:lnTo>
                  <a:pt x="0" y="56428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1782" r="0" b="-1178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43000"/>
            <a:ext cx="7889924" cy="2939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54"/>
              </a:lnSpc>
            </a:pPr>
            <a:r>
              <a:rPr lang="en-US" sz="1095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PROBLEM </a:t>
            </a:r>
          </a:p>
          <a:p>
            <a:pPr algn="l">
              <a:lnSpc>
                <a:spcPts val="10954"/>
              </a:lnSpc>
            </a:pPr>
            <a:r>
              <a:rPr lang="en-US" sz="1095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1932" y="4596548"/>
            <a:ext cx="8006692" cy="491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526" indent="-305263" lvl="1">
              <a:lnSpc>
                <a:spcPts val="3958"/>
              </a:lnSpc>
              <a:buFont typeface="Arial"/>
              <a:buChar char="•"/>
            </a:pPr>
            <a:r>
              <a:rPr lang="en-US" sz="2827">
                <a:solidFill>
                  <a:srgbClr val="A31212"/>
                </a:solidFill>
                <a:latin typeface="DM Sans"/>
                <a:ea typeface="DM Sans"/>
                <a:cs typeface="DM Sans"/>
                <a:sym typeface="DM Sans"/>
              </a:rPr>
              <a:t>USAGE OF FLAT FILES SUCH AS SPREADSHEETS:  UNRELIABLE AND OUTDATED </a:t>
            </a:r>
          </a:p>
          <a:p>
            <a:pPr algn="l" marL="610526" indent="-305263" lvl="1">
              <a:lnSpc>
                <a:spcPts val="3958"/>
              </a:lnSpc>
              <a:buFont typeface="Arial"/>
              <a:buChar char="•"/>
            </a:pPr>
            <a:r>
              <a:rPr lang="en-US" sz="2827">
                <a:solidFill>
                  <a:srgbClr val="A31212"/>
                </a:solidFill>
                <a:latin typeface="DM Sans"/>
                <a:ea typeface="DM Sans"/>
                <a:cs typeface="DM Sans"/>
                <a:sym typeface="DM Sans"/>
              </a:rPr>
              <a:t>LACK OF DATA SECURITY: NO LIMITED ACCESS, EASILY MODIFIABLE</a:t>
            </a:r>
          </a:p>
          <a:p>
            <a:pPr algn="l" marL="610526" indent="-305263" lvl="1">
              <a:lnSpc>
                <a:spcPts val="3958"/>
              </a:lnSpc>
              <a:buFont typeface="Arial"/>
              <a:buChar char="•"/>
            </a:pPr>
            <a:r>
              <a:rPr lang="en-US" sz="2827">
                <a:solidFill>
                  <a:srgbClr val="A31212"/>
                </a:solidFill>
                <a:latin typeface="DM Sans"/>
                <a:ea typeface="DM Sans"/>
                <a:cs typeface="DM Sans"/>
                <a:sym typeface="DM Sans"/>
              </a:rPr>
              <a:t>DATA DUPLICATION: DATA REPETITION </a:t>
            </a:r>
          </a:p>
          <a:p>
            <a:pPr algn="l" marL="610526" indent="-305263" lvl="1">
              <a:lnSpc>
                <a:spcPts val="3958"/>
              </a:lnSpc>
              <a:buFont typeface="Arial"/>
              <a:buChar char="•"/>
            </a:pPr>
            <a:r>
              <a:rPr lang="en-US" sz="2827">
                <a:solidFill>
                  <a:srgbClr val="A31212"/>
                </a:solidFill>
                <a:latin typeface="DM Sans"/>
                <a:ea typeface="DM Sans"/>
                <a:cs typeface="DM Sans"/>
                <a:sym typeface="DM Sans"/>
              </a:rPr>
              <a:t>CALCULATION ERROS IN PAYROLL MANAGEMENT: NO STRICT CONSTRAINTS</a:t>
            </a:r>
          </a:p>
          <a:p>
            <a:pPr algn="l" marL="610526" indent="-305263" lvl="1">
              <a:lnSpc>
                <a:spcPts val="3958"/>
              </a:lnSpc>
              <a:buFont typeface="Arial"/>
              <a:buChar char="•"/>
            </a:pPr>
            <a:r>
              <a:rPr lang="en-US" sz="2827">
                <a:solidFill>
                  <a:srgbClr val="A31212"/>
                </a:solidFill>
                <a:latin typeface="DM Sans"/>
                <a:ea typeface="DM Sans"/>
                <a:cs typeface="DM Sans"/>
                <a:sym typeface="DM Sans"/>
              </a:rPr>
              <a:t>LACK OF AUTOMATION CAUSES HUMAN ERRORS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5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7682" y="-11430"/>
            <a:ext cx="4545783" cy="10742553"/>
            <a:chOff x="0" y="0"/>
            <a:chExt cx="1197243" cy="2829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97243" cy="2829314"/>
            </a:xfrm>
            <a:custGeom>
              <a:avLst/>
              <a:gdLst/>
              <a:ahLst/>
              <a:cxnLst/>
              <a:rect r="r" b="b" t="t" l="l"/>
              <a:pathLst>
                <a:path h="2829314" w="1197243">
                  <a:moveTo>
                    <a:pt x="0" y="0"/>
                  </a:moveTo>
                  <a:lnTo>
                    <a:pt x="1197243" y="0"/>
                  </a:lnTo>
                  <a:lnTo>
                    <a:pt x="1197243" y="2829314"/>
                  </a:lnTo>
                  <a:lnTo>
                    <a:pt x="0" y="2829314"/>
                  </a:lnTo>
                  <a:close/>
                </a:path>
              </a:pathLst>
            </a:custGeom>
            <a:solidFill>
              <a:srgbClr val="A312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97243" cy="2876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00370" y="-11430"/>
            <a:ext cx="10287260" cy="10298430"/>
          </a:xfrm>
          <a:custGeom>
            <a:avLst/>
            <a:gdLst/>
            <a:ahLst/>
            <a:cxnLst/>
            <a:rect r="r" b="b" t="t" l="l"/>
            <a:pathLst>
              <a:path h="10298430" w="10287260">
                <a:moveTo>
                  <a:pt x="0" y="0"/>
                </a:moveTo>
                <a:lnTo>
                  <a:pt x="10287260" y="0"/>
                </a:lnTo>
                <a:lnTo>
                  <a:pt x="10287260" y="10298430"/>
                </a:lnTo>
                <a:lnTo>
                  <a:pt x="0" y="10298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28700" y="4379443"/>
          <a:ext cx="16230600" cy="3593985"/>
        </p:xfrm>
        <a:graphic>
          <a:graphicData uri="http://schemas.openxmlformats.org/drawingml/2006/table">
            <a:tbl>
              <a:tblPr/>
              <a:tblGrid>
                <a:gridCol w="8115300"/>
                <a:gridCol w="8115300"/>
              </a:tblGrid>
              <a:tr h="18066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751212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TO IMPLEMENT SQL VIEWS FOR SECURE AND SIMPLIFIED DATA ACCESS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751212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 TO REDUCE MANUAL RECORD-KEEPING ERRORS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F"/>
                    </a:solidFill>
                  </a:tcPr>
                </a:tc>
              </a:tr>
              <a:tr h="17873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751212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 TO GENERATE USEFUL HR REPORTS:  MONTHLY PAYROLL RECORDS., PAYMENT HISTORY OF EMPLOYEES, HIRING PROCESS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751212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TO MANAGE EMPLOYEE, DEPARTMENT, AND SALARY RECORDS EFFICIENTLY.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F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2575409" y="1548859"/>
            <a:ext cx="13137181" cy="1146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00"/>
              </a:lnSpc>
            </a:pPr>
            <a:r>
              <a:rPr lang="en-US" sz="8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PROJECT OBJECTIVES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5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318885"/>
            <a:ext cx="4698478" cy="4698478"/>
          </a:xfrm>
          <a:custGeom>
            <a:avLst/>
            <a:gdLst/>
            <a:ahLst/>
            <a:cxnLst/>
            <a:rect r="r" b="b" t="t" l="l"/>
            <a:pathLst>
              <a:path h="4698478" w="4698478">
                <a:moveTo>
                  <a:pt x="0" y="0"/>
                </a:moveTo>
                <a:lnTo>
                  <a:pt x="4698478" y="0"/>
                </a:lnTo>
                <a:lnTo>
                  <a:pt x="4698478" y="4698478"/>
                </a:lnTo>
                <a:lnTo>
                  <a:pt x="0" y="4698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9431" y="1238250"/>
            <a:ext cx="16230600" cy="508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KEY FEATURES: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Employee record management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Payroll and salary tracking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Attendance monitoring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Recruitment and interview tracking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Role-Based Access Control (RBAC)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Advanced SQL reporting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Dynamic Filtering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862018" y="0"/>
            <a:ext cx="4848737" cy="4848737"/>
          </a:xfrm>
          <a:custGeom>
            <a:avLst/>
            <a:gdLst/>
            <a:ahLst/>
            <a:cxnLst/>
            <a:rect r="r" b="b" t="t" l="l"/>
            <a:pathLst>
              <a:path h="4848737" w="4848737">
                <a:moveTo>
                  <a:pt x="0" y="0"/>
                </a:moveTo>
                <a:lnTo>
                  <a:pt x="4848738" y="0"/>
                </a:lnTo>
                <a:lnTo>
                  <a:pt x="4848738" y="4848737"/>
                </a:lnTo>
                <a:lnTo>
                  <a:pt x="0" y="48487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757642" y="1238250"/>
            <a:ext cx="9530358" cy="5645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68"/>
              </a:lnSpc>
            </a:pPr>
            <a:r>
              <a:rPr lang="en-US" sz="726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Advanced Reporting:</a:t>
            </a:r>
          </a:p>
          <a:p>
            <a:pPr algn="just" marL="588066" indent="-294033" lvl="1">
              <a:lnSpc>
                <a:spcPts val="3813"/>
              </a:lnSpc>
              <a:buFont typeface="Arial"/>
              <a:buChar char="•"/>
            </a:pPr>
            <a:r>
              <a:rPr lang="en-US" b="true" sz="272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 Paid Employees</a:t>
            </a:r>
          </a:p>
          <a:p>
            <a:pPr algn="just" marL="588066" indent="-294033" lvl="1">
              <a:lnSpc>
                <a:spcPts val="3813"/>
              </a:lnSpc>
              <a:buFont typeface="Arial"/>
              <a:buChar char="•"/>
            </a:pPr>
            <a:r>
              <a:rPr lang="en-US" b="true" sz="272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Salary and payroll reports</a:t>
            </a:r>
          </a:p>
          <a:p>
            <a:pPr algn="just" marL="588066" indent="-294033" lvl="1">
              <a:lnSpc>
                <a:spcPts val="3813"/>
              </a:lnSpc>
              <a:buFont typeface="Arial"/>
              <a:buChar char="•"/>
            </a:pPr>
            <a:r>
              <a:rPr lang="en-US" b="true" sz="272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Hiring summary report</a:t>
            </a:r>
          </a:p>
          <a:p>
            <a:pPr algn="just" marL="588066" indent="-294033" lvl="1">
              <a:lnSpc>
                <a:spcPts val="3813"/>
              </a:lnSpc>
              <a:buFont typeface="Arial"/>
              <a:buChar char="•"/>
            </a:pPr>
            <a:r>
              <a:rPr lang="en-US" b="true" sz="272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Interview schedule report</a:t>
            </a:r>
          </a:p>
          <a:p>
            <a:pPr algn="just" marL="588066" indent="-294033" lvl="1">
              <a:lnSpc>
                <a:spcPts val="3813"/>
              </a:lnSpc>
              <a:buFont typeface="Arial"/>
              <a:buChar char="•"/>
            </a:pPr>
            <a:r>
              <a:rPr lang="en-US" b="true" sz="272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Attendance reports</a:t>
            </a:r>
          </a:p>
          <a:p>
            <a:pPr algn="just" marL="588066" indent="-294033" lvl="1">
              <a:lnSpc>
                <a:spcPts val="3813"/>
              </a:lnSpc>
              <a:buFont typeface="Arial"/>
              <a:buChar char="•"/>
            </a:pPr>
            <a:r>
              <a:rPr lang="en-US" b="true" sz="272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Applicant tracking</a:t>
            </a:r>
          </a:p>
          <a:p>
            <a:pPr algn="just" marL="588066" indent="-294033" lvl="1">
              <a:lnSpc>
                <a:spcPts val="3813"/>
              </a:lnSpc>
              <a:buFont typeface="Arial"/>
              <a:buChar char="•"/>
            </a:pPr>
            <a:r>
              <a:rPr lang="en-US" b="true" sz="272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Department with highest salaries</a:t>
            </a:r>
          </a:p>
          <a:p>
            <a:pPr algn="just" marL="588066" indent="-294033" lvl="1">
              <a:lnSpc>
                <a:spcPts val="3813"/>
              </a:lnSpc>
              <a:buFont typeface="Arial"/>
              <a:buChar char="•"/>
            </a:pPr>
            <a:r>
              <a:rPr lang="en-US" b="true" sz="272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Employees with most absences</a:t>
            </a:r>
          </a:p>
          <a:p>
            <a:pPr algn="just">
              <a:lnSpc>
                <a:spcPts val="3813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6404117"/>
            <a:ext cx="7728199" cy="5708367"/>
          </a:xfrm>
          <a:custGeom>
            <a:avLst/>
            <a:gdLst/>
            <a:ahLst/>
            <a:cxnLst/>
            <a:rect r="r" b="b" t="t" l="l"/>
            <a:pathLst>
              <a:path h="5708367" w="7728199">
                <a:moveTo>
                  <a:pt x="0" y="0"/>
                </a:moveTo>
                <a:lnTo>
                  <a:pt x="7728199" y="0"/>
                </a:lnTo>
                <a:lnTo>
                  <a:pt x="7728199" y="5708366"/>
                </a:lnTo>
                <a:lnTo>
                  <a:pt x="0" y="57083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691" r="0" b="-1769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62018" y="-733937"/>
            <a:ext cx="7978290" cy="5582674"/>
          </a:xfrm>
          <a:custGeom>
            <a:avLst/>
            <a:gdLst/>
            <a:ahLst/>
            <a:cxnLst/>
            <a:rect r="r" b="b" t="t" l="l"/>
            <a:pathLst>
              <a:path h="5582674" w="7978290">
                <a:moveTo>
                  <a:pt x="0" y="0"/>
                </a:moveTo>
                <a:lnTo>
                  <a:pt x="7978290" y="0"/>
                </a:lnTo>
                <a:lnTo>
                  <a:pt x="7978290" y="5582674"/>
                </a:lnTo>
                <a:lnTo>
                  <a:pt x="0" y="5582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1455" r="0" b="-21455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9144000" y="7044596"/>
          <a:ext cx="10436365" cy="990600"/>
        </p:xfrm>
        <a:graphic>
          <a:graphicData uri="http://schemas.openxmlformats.org/drawingml/2006/table">
            <a:tbl>
              <a:tblPr/>
              <a:tblGrid>
                <a:gridCol w="10436365"/>
              </a:tblGrid>
              <a:tr h="9499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OUT SCOPE: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1212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9144000" y="7863746"/>
          <a:ext cx="10436365" cy="2019300"/>
        </p:xfrm>
        <a:graphic>
          <a:graphicData uri="http://schemas.openxmlformats.org/drawingml/2006/table">
            <a:tbl>
              <a:tblPr/>
              <a:tblGrid>
                <a:gridCol w="10436365"/>
              </a:tblGrid>
              <a:tr h="2019300">
                <a:tc>
                  <a:txBody>
                    <a:bodyPr anchor="t" rtlCol="false"/>
                    <a:lstStyle/>
                    <a:p>
                      <a:pPr algn="l" marL="496567" indent="-248284" lvl="1">
                        <a:lnSpc>
                          <a:spcPts val="321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Mobile applications</a:t>
                      </a:r>
                      <a:endParaRPr lang="en-US" sz="1100"/>
                    </a:p>
                    <a:p>
                      <a:pPr algn="l" marL="496567" indent="-248284" lvl="1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AI-based hiring decisions</a:t>
                      </a:r>
                    </a:p>
                    <a:p>
                      <a:pPr algn="l" marL="496567" indent="-248284" lvl="1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Biometric attendance systems</a:t>
                      </a:r>
                    </a:p>
                    <a:p>
                      <a:pPr algn="l" marL="496567" indent="-248284" lvl="1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Integration with external banking system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1212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-7470978" y="413223"/>
          <a:ext cx="12714548" cy="1009650"/>
        </p:xfrm>
        <a:graphic>
          <a:graphicData uri="http://schemas.openxmlformats.org/drawingml/2006/table">
            <a:tbl>
              <a:tblPr/>
              <a:tblGrid>
                <a:gridCol w="12714548"/>
              </a:tblGrid>
              <a:tr h="986859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SCOPE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121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9135" y="-90560"/>
            <a:ext cx="5262635" cy="5262635"/>
          </a:xfrm>
          <a:custGeom>
            <a:avLst/>
            <a:gdLst/>
            <a:ahLst/>
            <a:cxnLst/>
            <a:rect r="r" b="b" t="t" l="l"/>
            <a:pathLst>
              <a:path h="5262635" w="5262635">
                <a:moveTo>
                  <a:pt x="0" y="0"/>
                </a:moveTo>
                <a:lnTo>
                  <a:pt x="5262635" y="0"/>
                </a:lnTo>
                <a:lnTo>
                  <a:pt x="5262635" y="5262635"/>
                </a:lnTo>
                <a:lnTo>
                  <a:pt x="0" y="5262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37388" y="574675"/>
            <a:ext cx="8692325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EXISTING SYSTEM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0" y="5153025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0" y="5143500"/>
                </a:moveTo>
                <a:lnTo>
                  <a:pt x="5143500" y="5143500"/>
                </a:lnTo>
                <a:lnTo>
                  <a:pt x="5143500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6720619" y="2066222"/>
          <a:ext cx="9325863" cy="7721142"/>
        </p:xfrm>
        <a:graphic>
          <a:graphicData uri="http://schemas.openxmlformats.org/drawingml/2006/table">
            <a:tbl>
              <a:tblPr/>
              <a:tblGrid>
                <a:gridCol w="7491479"/>
              </a:tblGrid>
              <a:tr h="1932163">
                <a:tc>
                  <a:txBody>
                    <a:bodyPr anchor="t" rtlCol="false"/>
                    <a:lstStyle/>
                    <a:p>
                      <a:pPr algn="l" marL="474978" indent="-237489" lvl="1">
                        <a:lnSpc>
                          <a:spcPts val="30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Excel systems: Info leakage</a:t>
                      </a:r>
                      <a:endParaRPr lang="en-US" sz="1100"/>
                    </a:p>
                    <a:p>
                      <a:pPr algn="l" marL="474978" indent="-237489" lvl="1">
                        <a:lnSpc>
                          <a:spcPts val="3079"/>
                        </a:lnSpc>
                        <a:buFont typeface="Arial"/>
                        <a:buChar char="•"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Manual Processes: Reduces productivity</a:t>
                      </a:r>
                    </a:p>
                    <a:p>
                      <a:pPr algn="l" marL="474978" indent="-237489" lvl="1">
                        <a:lnSpc>
                          <a:spcPts val="3079"/>
                        </a:lnSpc>
                        <a:buFont typeface="Arial"/>
                        <a:buChar char="•"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Manual Invoice Generation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1212"/>
                    </a:solidFill>
                  </a:tcPr>
                </a:tc>
              </a:tr>
              <a:tr h="14756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Our Solution + Additional Features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1212"/>
                    </a:solidFill>
                  </a:tcPr>
                </a:tc>
              </a:tr>
              <a:tr h="23811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Role-Based Access Control (RBAC):</a:t>
                      </a:r>
                      <a:endParaRPr lang="en-US" sz="1100"/>
                    </a:p>
                    <a:p>
                      <a:pPr algn="l" marL="496567" indent="-248284" lvl="1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HR Manager → full access </a:t>
                      </a:r>
                    </a:p>
                    <a:p>
                      <a:pPr algn="l" marL="496567" indent="-248284" lvl="1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Finance → payroll only </a:t>
                      </a:r>
                    </a:p>
                    <a:p>
                      <a:pPr algn="l" marL="496567" indent="-248284" lvl="1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Admin → limited access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1212"/>
                    </a:solidFill>
                  </a:tcPr>
                </a:tc>
              </a:tr>
              <a:tr h="193216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Advanced Reporting</a:t>
                      </a:r>
                      <a:r>
                        <a:rPr lang="en-US" sz="22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:</a:t>
                      </a:r>
                      <a:endParaRPr lang="en-US" sz="1100"/>
                    </a:p>
                    <a:p>
                      <a:pPr algn="l" marL="496567" indent="-248284" lvl="1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Automated calculations (salary reports)</a:t>
                      </a:r>
                    </a:p>
                    <a:p>
                      <a:pPr algn="l" marL="496567" indent="-248284" lvl="1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Attendance Integration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121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08585" y="815242"/>
            <a:ext cx="10228313" cy="10403455"/>
          </a:xfrm>
          <a:custGeom>
            <a:avLst/>
            <a:gdLst/>
            <a:ahLst/>
            <a:cxnLst/>
            <a:rect r="r" b="b" t="t" l="l"/>
            <a:pathLst>
              <a:path h="10403455" w="10228313">
                <a:moveTo>
                  <a:pt x="0" y="0"/>
                </a:moveTo>
                <a:lnTo>
                  <a:pt x="10228313" y="0"/>
                </a:lnTo>
                <a:lnTo>
                  <a:pt x="10228313" y="10403455"/>
                </a:lnTo>
                <a:lnTo>
                  <a:pt x="0" y="104034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8575" y="7749770"/>
            <a:ext cx="8915338" cy="3430827"/>
            <a:chOff x="0" y="0"/>
            <a:chExt cx="2348073" cy="9035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48073" cy="903592"/>
            </a:xfrm>
            <a:custGeom>
              <a:avLst/>
              <a:gdLst/>
              <a:ahLst/>
              <a:cxnLst/>
              <a:rect r="r" b="b" t="t" l="l"/>
              <a:pathLst>
                <a:path h="903592" w="2348073">
                  <a:moveTo>
                    <a:pt x="0" y="0"/>
                  </a:moveTo>
                  <a:lnTo>
                    <a:pt x="2348073" y="0"/>
                  </a:lnTo>
                  <a:lnTo>
                    <a:pt x="2348073" y="903592"/>
                  </a:lnTo>
                  <a:lnTo>
                    <a:pt x="0" y="903592"/>
                  </a:lnTo>
                  <a:close/>
                </a:path>
              </a:pathLst>
            </a:custGeom>
            <a:solidFill>
              <a:srgbClr val="75121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348073" cy="951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954022" y="7242683"/>
            <a:ext cx="7305278" cy="2155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00"/>
              </a:lnSpc>
            </a:pPr>
            <a:r>
              <a:rPr lang="en-US" sz="8000">
                <a:solidFill>
                  <a:srgbClr val="F5F2EF"/>
                </a:solidFill>
                <a:latin typeface="Poppins Light"/>
                <a:ea typeface="Poppins Light"/>
                <a:cs typeface="Poppins Light"/>
                <a:sym typeface="Poppins Light"/>
              </a:rPr>
              <a:t>SYSTEM </a:t>
            </a:r>
          </a:p>
          <a:p>
            <a:pPr algn="r">
              <a:lnSpc>
                <a:spcPts val="8000"/>
              </a:lnSpc>
            </a:pPr>
            <a:r>
              <a:rPr lang="en-US" sz="8000">
                <a:solidFill>
                  <a:srgbClr val="F5F2EF"/>
                </a:solidFill>
                <a:latin typeface="Poppins Light"/>
                <a:ea typeface="Poppins Light"/>
                <a:cs typeface="Poppins Light"/>
                <a:sym typeface="Poppins Light"/>
              </a:rPr>
              <a:t>ARCHITECTURE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6872" y="537970"/>
            <a:ext cx="12097131" cy="702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b="true" sz="3599" u="sng">
                <a:solidFill>
                  <a:srgbClr val="A31212"/>
                </a:solidFill>
                <a:latin typeface="DM Sans Bold"/>
                <a:ea typeface="DM Sans Bold"/>
                <a:cs typeface="DM Sans Bold"/>
                <a:sym typeface="DM Sans Bold"/>
              </a:rPr>
              <a:t>3-TIER ARCHITECTURE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A31212"/>
                </a:solidFill>
                <a:latin typeface="DM Sans"/>
                <a:ea typeface="DM Sans"/>
                <a:cs typeface="DM Sans"/>
                <a:sym typeface="DM Sans"/>
              </a:rPr>
              <a:t>IMPROVES SCALABILITY, MAINTAINABILITY, AND SECURITY.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A31212"/>
                </a:solidFill>
                <a:latin typeface="DM Sans"/>
                <a:ea typeface="DM Sans"/>
                <a:cs typeface="DM Sans"/>
                <a:sym typeface="DM Sans"/>
              </a:rPr>
              <a:t>1)PRESENTATION LAYER (FRONTEND) - IMPLEMENTED USING </a:t>
            </a:r>
            <a:r>
              <a:rPr lang="en-US" b="true" sz="3000">
                <a:solidFill>
                  <a:srgbClr val="A31212"/>
                </a:solidFill>
                <a:latin typeface="DM Sans Bold"/>
                <a:ea typeface="DM Sans Bold"/>
                <a:cs typeface="DM Sans Bold"/>
                <a:sym typeface="DM Sans Bold"/>
              </a:rPr>
              <a:t>PYTHON TKINTER GUI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A31212"/>
                </a:solidFill>
                <a:latin typeface="DM Sans"/>
                <a:ea typeface="DM Sans"/>
                <a:cs typeface="DM Sans"/>
                <a:sym typeface="DM Sans"/>
              </a:rPr>
              <a:t>PROVIDES USER INTERFACE FOR HR OPERAT</a:t>
            </a:r>
            <a:r>
              <a:rPr lang="en-US" sz="3000">
                <a:solidFill>
                  <a:srgbClr val="A31212"/>
                </a:solidFill>
                <a:latin typeface="DM Sans"/>
                <a:ea typeface="DM Sans"/>
                <a:cs typeface="DM Sans"/>
                <a:sym typeface="DM Sans"/>
              </a:rPr>
              <a:t>IONS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A31212"/>
                </a:solidFill>
                <a:latin typeface="DM Sans"/>
                <a:ea typeface="DM Sans"/>
                <a:cs typeface="DM Sans"/>
                <a:sym typeface="DM Sans"/>
              </a:rPr>
              <a:t>ALLOWS USERS TO INPUT DATA AND VIEW REPORTS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A31212"/>
                </a:solidFill>
                <a:latin typeface="DM Sans"/>
                <a:ea typeface="DM Sans"/>
                <a:cs typeface="DM Sans"/>
                <a:sym typeface="DM Sans"/>
              </a:rPr>
              <a:t>2) APPLICATION LAYER (LOGIC LAYER)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A31212"/>
                </a:solidFill>
                <a:latin typeface="DM Sans"/>
                <a:ea typeface="DM Sans"/>
                <a:cs typeface="DM Sans"/>
                <a:sym typeface="DM Sans"/>
              </a:rPr>
              <a:t>HANDLES BUSINESS LOGIC AND QUERY EXECUTION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A31212"/>
                </a:solidFill>
                <a:latin typeface="DM Sans"/>
                <a:ea typeface="DM Sans"/>
                <a:cs typeface="DM Sans"/>
                <a:sym typeface="DM Sans"/>
              </a:rPr>
              <a:t>PROCESSES USER INPUT AND INTERACTS WITH THE DATABASE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A31212"/>
                </a:solidFill>
                <a:latin typeface="DM Sans"/>
                <a:ea typeface="DM Sans"/>
                <a:cs typeface="DM Sans"/>
                <a:sym typeface="DM Sans"/>
              </a:rPr>
              <a:t>3) DATA LAYER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A31212"/>
                </a:solidFill>
                <a:latin typeface="DM Sans"/>
                <a:ea typeface="DM Sans"/>
                <a:cs typeface="DM Sans"/>
                <a:sym typeface="DM Sans"/>
              </a:rPr>
              <a:t>A CENTRALIZED DBMS STORES AND MANAGES ALL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A31212"/>
                </a:solidFill>
                <a:latin typeface="DM Sans"/>
                <a:ea typeface="DM Sans"/>
                <a:cs typeface="DM Sans"/>
                <a:sym typeface="DM Sans"/>
              </a:rPr>
              <a:t>HR RELATED DATA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A31212"/>
                </a:solidFill>
                <a:latin typeface="DM Sans"/>
                <a:ea typeface="DM Sans"/>
                <a:cs typeface="DM Sans"/>
                <a:sym typeface="DM Sans"/>
              </a:rPr>
              <a:t>ENSURES DATA INTEGRITY THROUGH KEYS AND CONSTRAINTS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94295" y="1732740"/>
            <a:ext cx="9793590" cy="7048356"/>
          </a:xfrm>
          <a:custGeom>
            <a:avLst/>
            <a:gdLst/>
            <a:ahLst/>
            <a:cxnLst/>
            <a:rect r="r" b="b" t="t" l="l"/>
            <a:pathLst>
              <a:path h="7048356" w="9793590">
                <a:moveTo>
                  <a:pt x="0" y="0"/>
                </a:moveTo>
                <a:lnTo>
                  <a:pt x="9793590" y="0"/>
                </a:lnTo>
                <a:lnTo>
                  <a:pt x="9793590" y="7048355"/>
                </a:lnTo>
                <a:lnTo>
                  <a:pt x="0" y="70483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10" t="0" r="-401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90605" y="6723695"/>
            <a:ext cx="6920917" cy="4114800"/>
          </a:xfrm>
          <a:custGeom>
            <a:avLst/>
            <a:gdLst/>
            <a:ahLst/>
            <a:cxnLst/>
            <a:rect r="r" b="b" t="t" l="l"/>
            <a:pathLst>
              <a:path h="4114800" w="6920917">
                <a:moveTo>
                  <a:pt x="0" y="0"/>
                </a:moveTo>
                <a:lnTo>
                  <a:pt x="6920917" y="0"/>
                </a:lnTo>
                <a:lnTo>
                  <a:pt x="69209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5368818" y="-2214588"/>
            <a:ext cx="852198" cy="4986264"/>
          </a:xfrm>
          <a:custGeom>
            <a:avLst/>
            <a:gdLst/>
            <a:ahLst/>
            <a:cxnLst/>
            <a:rect r="r" b="b" t="t" l="l"/>
            <a:pathLst>
              <a:path h="4986264" w="852198">
                <a:moveTo>
                  <a:pt x="0" y="0"/>
                </a:moveTo>
                <a:lnTo>
                  <a:pt x="852198" y="0"/>
                </a:lnTo>
                <a:lnTo>
                  <a:pt x="852198" y="4986264"/>
                </a:lnTo>
                <a:lnTo>
                  <a:pt x="0" y="49862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82153" y="9402445"/>
            <a:ext cx="4349189" cy="26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14249" y="304801"/>
            <a:ext cx="11199515" cy="129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5"/>
              </a:lnSpc>
            </a:pPr>
            <a:r>
              <a:rPr lang="en-US" sz="7500">
                <a:solidFill>
                  <a:srgbClr val="851B1B"/>
                </a:solidFill>
                <a:latin typeface="Poppins Light"/>
                <a:ea typeface="Poppins Light"/>
                <a:cs typeface="Poppins Light"/>
                <a:sym typeface="Poppins Light"/>
              </a:rPr>
              <a:t>SCHEMA IMPLEMENTAION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4249" y="2274149"/>
            <a:ext cx="7812165" cy="251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8036" indent="-309018" lvl="1">
              <a:lnSpc>
                <a:spcPts val="4007"/>
              </a:lnSpc>
              <a:buFont typeface="Arial"/>
              <a:buChar char="•"/>
            </a:pPr>
            <a:r>
              <a:rPr lang="en-US" sz="2862">
                <a:solidFill>
                  <a:srgbClr val="851B1B"/>
                </a:solidFill>
                <a:latin typeface="Canva Sans"/>
                <a:ea typeface="Canva Sans"/>
                <a:cs typeface="Canva Sans"/>
                <a:sym typeface="Canva Sans"/>
              </a:rPr>
              <a:t>The database consists of eight main tables designed to manage employee records, departments, salaries, attendance, recruitment, users, and system roles.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4249" y="5458681"/>
            <a:ext cx="7085379" cy="3322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128" indent="-291064" lvl="1">
              <a:lnSpc>
                <a:spcPts val="3774"/>
              </a:lnSpc>
              <a:buFont typeface="Arial"/>
              <a:buChar char="•"/>
            </a:pPr>
            <a:r>
              <a:rPr lang="en-US" sz="2696">
                <a:solidFill>
                  <a:srgbClr val="851B1B"/>
                </a:solidFill>
                <a:latin typeface="Canva Sans"/>
                <a:ea typeface="Canva Sans"/>
                <a:cs typeface="Canva Sans"/>
                <a:sym typeface="Canva Sans"/>
              </a:rPr>
              <a:t>Primary keys ensured unique identification and foreign keys maintained relationships between tables. Check constraints enforced data validity such as valid roles, positive salaries, allowed statuses, and no future dates.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5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1056" y="2691735"/>
            <a:ext cx="9360262" cy="748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5"/>
              </a:lnSpc>
            </a:pPr>
            <a:r>
              <a:rPr lang="en-US" sz="255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Relationships Implemented : </a:t>
            </a:r>
          </a:p>
          <a:p>
            <a:pPr algn="l" marL="552574" indent="-276287" lvl="1">
              <a:lnSpc>
                <a:spcPts val="4965"/>
              </a:lnSpc>
              <a:buFont typeface="Arial"/>
              <a:buChar char="•"/>
            </a:pPr>
            <a:r>
              <a:rPr lang="en-US" sz="25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Department </a:t>
            </a:r>
            <a:r>
              <a:rPr lang="en-US" sz="25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→ Employee: 1 : n (every department has many employees)</a:t>
            </a:r>
          </a:p>
          <a:p>
            <a:pPr algn="l" marL="552574" indent="-276287" lvl="1">
              <a:lnSpc>
                <a:spcPts val="4965"/>
              </a:lnSpc>
              <a:buFont typeface="Arial"/>
              <a:buChar char="•"/>
            </a:pPr>
            <a:r>
              <a:rPr lang="en-US" sz="25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Employee → Salary: 1 : N (one employee can have multiple </a:t>
            </a:r>
          </a:p>
          <a:p>
            <a:pPr algn="l">
              <a:lnSpc>
                <a:spcPts val="4965"/>
              </a:lnSpc>
            </a:pPr>
            <a:r>
              <a:rPr lang="en-US" sz="25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5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salary records)</a:t>
            </a:r>
          </a:p>
          <a:p>
            <a:pPr algn="l" marL="552574" indent="-276287" lvl="1">
              <a:lnSpc>
                <a:spcPts val="4965"/>
              </a:lnSpc>
              <a:buFont typeface="Arial"/>
              <a:buChar char="•"/>
            </a:pPr>
            <a:r>
              <a:rPr lang="en-US" sz="25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Employee → Attendance: 1 : N (one employee can have</a:t>
            </a:r>
          </a:p>
          <a:p>
            <a:pPr algn="l">
              <a:lnSpc>
                <a:spcPts val="4965"/>
              </a:lnSpc>
            </a:pPr>
            <a:r>
              <a:rPr lang="en-US" sz="25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multiple attendance </a:t>
            </a:r>
            <a:r>
              <a:rPr lang="en-US" sz="25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records)</a:t>
            </a:r>
          </a:p>
          <a:p>
            <a:pPr algn="l" marL="552574" indent="-276287" lvl="1">
              <a:lnSpc>
                <a:spcPts val="4965"/>
              </a:lnSpc>
              <a:buFont typeface="Arial"/>
              <a:buChar char="•"/>
            </a:pPr>
            <a:r>
              <a:rPr lang="en-US" sz="25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Applicant → Interview: 1 : N (one applicant can have </a:t>
            </a:r>
          </a:p>
          <a:p>
            <a:pPr algn="l">
              <a:lnSpc>
                <a:spcPts val="4965"/>
              </a:lnSpc>
            </a:pPr>
            <a:r>
              <a:rPr lang="en-US" sz="25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</a:t>
            </a:r>
            <a:r>
              <a:rPr lang="en-US" sz="25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multiple interview records)</a:t>
            </a:r>
          </a:p>
          <a:p>
            <a:pPr algn="l" marL="552574" indent="-276287" lvl="1">
              <a:lnSpc>
                <a:spcPts val="4965"/>
              </a:lnSpc>
              <a:buFont typeface="Arial"/>
              <a:buChar char="•"/>
            </a:pPr>
            <a:r>
              <a:rPr lang="en-US" sz="25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 → Role: 1 : 1 (each user is assigned one role)</a:t>
            </a:r>
          </a:p>
          <a:p>
            <a:pPr algn="l">
              <a:lnSpc>
                <a:spcPts val="4965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575279" y="686185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45381" y="-289783"/>
            <a:ext cx="9373273" cy="11266438"/>
          </a:xfrm>
          <a:custGeom>
            <a:avLst/>
            <a:gdLst/>
            <a:ahLst/>
            <a:cxnLst/>
            <a:rect r="r" b="b" t="t" l="l"/>
            <a:pathLst>
              <a:path h="11266438" w="9373273">
                <a:moveTo>
                  <a:pt x="0" y="0"/>
                </a:moveTo>
                <a:lnTo>
                  <a:pt x="9373273" y="0"/>
                </a:lnTo>
                <a:lnTo>
                  <a:pt x="9373273" y="11266438"/>
                </a:lnTo>
                <a:lnTo>
                  <a:pt x="0" y="112664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683" r="0" b="-3683"/>
            </a:stretch>
          </a:blipFill>
          <a:ln cap="sq">
            <a:noFill/>
            <a:prstDash val="lgDash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510570" y="377752"/>
            <a:ext cx="9863858" cy="221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1"/>
              </a:lnSpc>
            </a:pPr>
            <a:r>
              <a:rPr lang="en-US" sz="61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ENTITY RELATIONSHIP DIAGRAM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5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15518" y="4168407"/>
            <a:ext cx="6200034" cy="6306199"/>
          </a:xfrm>
          <a:custGeom>
            <a:avLst/>
            <a:gdLst/>
            <a:ahLst/>
            <a:cxnLst/>
            <a:rect r="r" b="b" t="t" l="l"/>
            <a:pathLst>
              <a:path h="6306199" w="6200034">
                <a:moveTo>
                  <a:pt x="0" y="0"/>
                </a:moveTo>
                <a:lnTo>
                  <a:pt x="6200035" y="0"/>
                </a:lnTo>
                <a:lnTo>
                  <a:pt x="6200035" y="6306200"/>
                </a:lnTo>
                <a:lnTo>
                  <a:pt x="0" y="6306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88072" y="-234086"/>
            <a:ext cx="6200034" cy="6306199"/>
          </a:xfrm>
          <a:custGeom>
            <a:avLst/>
            <a:gdLst/>
            <a:ahLst/>
            <a:cxnLst/>
            <a:rect r="r" b="b" t="t" l="l"/>
            <a:pathLst>
              <a:path h="6306199" w="6200034">
                <a:moveTo>
                  <a:pt x="6200034" y="6306199"/>
                </a:moveTo>
                <a:lnTo>
                  <a:pt x="0" y="6306199"/>
                </a:lnTo>
                <a:lnTo>
                  <a:pt x="0" y="0"/>
                </a:lnTo>
                <a:lnTo>
                  <a:pt x="6200034" y="0"/>
                </a:lnTo>
                <a:lnTo>
                  <a:pt x="6200034" y="63061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82718" y="4582174"/>
            <a:ext cx="12750836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DEMONSTRATION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19344" y="9210675"/>
            <a:ext cx="4996209" cy="907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5"/>
              </a:lnSpc>
            </a:pPr>
            <a:r>
              <a:rPr lang="en-US" sz="26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Project Tools: PostgreSQL, PYTHON Tkinkter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520146"/>
            <a:ext cx="17062787" cy="13047108"/>
          </a:xfrm>
          <a:custGeom>
            <a:avLst/>
            <a:gdLst/>
            <a:ahLst/>
            <a:cxnLst/>
            <a:rect r="r" b="b" t="t" l="l"/>
            <a:pathLst>
              <a:path h="13047108" w="17062787">
                <a:moveTo>
                  <a:pt x="0" y="0"/>
                </a:moveTo>
                <a:lnTo>
                  <a:pt x="17062787" y="0"/>
                </a:lnTo>
                <a:lnTo>
                  <a:pt x="17062787" y="13047108"/>
                </a:lnTo>
                <a:lnTo>
                  <a:pt x="0" y="130471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845" r="0" b="-484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678369" y="0"/>
            <a:ext cx="21039242" cy="10526962"/>
          </a:xfrm>
          <a:custGeom>
            <a:avLst/>
            <a:gdLst/>
            <a:ahLst/>
            <a:cxnLst/>
            <a:rect r="r" b="b" t="t" l="l"/>
            <a:pathLst>
              <a:path h="10526962" w="21039242">
                <a:moveTo>
                  <a:pt x="0" y="0"/>
                </a:moveTo>
                <a:lnTo>
                  <a:pt x="21039242" y="0"/>
                </a:lnTo>
                <a:lnTo>
                  <a:pt x="21039242" y="10526962"/>
                </a:lnTo>
                <a:lnTo>
                  <a:pt x="0" y="105269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5001" y="517456"/>
            <a:ext cx="7433024" cy="2155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00"/>
              </a:lnSpc>
            </a:pPr>
            <a:r>
              <a:rPr lang="en-US" sz="8000">
                <a:solidFill>
                  <a:srgbClr val="F5F2EF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IMPACT+ ENHANCEMENT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6176" y="2616132"/>
            <a:ext cx="10677382" cy="8406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Impact: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B</a:t>
            </a:r>
            <a:r>
              <a:rPr lang="en-US" b="true" sz="279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etter decision-making through analytical reports (salary, attendance, hiring trends)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Faster data retrieval and report generation using SQL queries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Enhanced data security through Role-Based Access Control (RBAC)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Interactive user interface using Tkinter, making the system user-friendly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Improved data accuracy and consistency </a:t>
            </a: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Future Enhancements: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Web-based interface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Integration with payroll/banking systems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Performance evaluation system</a:t>
            </a: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5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63531" y="4193601"/>
            <a:ext cx="6200034" cy="6306199"/>
          </a:xfrm>
          <a:custGeom>
            <a:avLst/>
            <a:gdLst/>
            <a:ahLst/>
            <a:cxnLst/>
            <a:rect r="r" b="b" t="t" l="l"/>
            <a:pathLst>
              <a:path h="6306199" w="6200034">
                <a:moveTo>
                  <a:pt x="0" y="0"/>
                </a:moveTo>
                <a:lnTo>
                  <a:pt x="6200034" y="0"/>
                </a:lnTo>
                <a:lnTo>
                  <a:pt x="6200034" y="6306199"/>
                </a:lnTo>
                <a:lnTo>
                  <a:pt x="0" y="6306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88072" y="-234086"/>
            <a:ext cx="6200034" cy="6306199"/>
          </a:xfrm>
          <a:custGeom>
            <a:avLst/>
            <a:gdLst/>
            <a:ahLst/>
            <a:cxnLst/>
            <a:rect r="r" b="b" t="t" l="l"/>
            <a:pathLst>
              <a:path h="6306199" w="6200034">
                <a:moveTo>
                  <a:pt x="6200034" y="6306199"/>
                </a:moveTo>
                <a:lnTo>
                  <a:pt x="0" y="6306199"/>
                </a:lnTo>
                <a:lnTo>
                  <a:pt x="0" y="0"/>
                </a:lnTo>
                <a:lnTo>
                  <a:pt x="6200034" y="0"/>
                </a:lnTo>
                <a:lnTo>
                  <a:pt x="6200034" y="63061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82718" y="4582174"/>
            <a:ext cx="12750836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DAHH9GlvN5k</dc:identifier>
  <dcterms:modified xsi:type="dcterms:W3CDTF">2011-08-01T06:04:30Z</dcterms:modified>
  <cp:revision>1</cp:revision>
  <dc:title>White Red Geometric Business Strategy Presentation</dc:title>
</cp:coreProperties>
</file>